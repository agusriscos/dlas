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59" r:id="rId1"/>
  </p:sldMasterIdLst>
  <p:notesMasterIdLst>
    <p:notesMasterId r:id="rId12"/>
  </p:notesMasterIdLst>
  <p:sldIdLst>
    <p:sldId id="256" r:id="rId2"/>
    <p:sldId id="262" r:id="rId3"/>
    <p:sldId id="263" r:id="rId4"/>
    <p:sldId id="264" r:id="rId5"/>
    <p:sldId id="265" r:id="rId6"/>
    <p:sldId id="266" r:id="rId7"/>
    <p:sldId id="267" r:id="rId8"/>
    <p:sldId id="258" r:id="rId9"/>
    <p:sldId id="268" r:id="rId10"/>
    <p:sldId id="261" r:id="rId11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176"/>
    <p:restoredTop sz="82853"/>
  </p:normalViewPr>
  <p:slideViewPr>
    <p:cSldViewPr snapToGrid="0" snapToObjects="1">
      <p:cViewPr varScale="1">
        <p:scale>
          <a:sx n="104" d="100"/>
          <a:sy n="104" d="100"/>
        </p:scale>
        <p:origin x="432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" name="Google Shape;86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768147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8" name="Google Shape;10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059398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6" name="Google Shape;11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117" name="Google Shape;117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877570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>
  <p:cSld name="Diapositiva de título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/>
          <p:nvPr/>
        </p:nvSpPr>
        <p:spPr>
          <a:xfrm>
            <a:off x="457752" y="2475386"/>
            <a:ext cx="8290712" cy="1041661"/>
          </a:xfrm>
          <a:prstGeom prst="roundRect">
            <a:avLst>
              <a:gd name="adj" fmla="val 16667"/>
            </a:avLst>
          </a:prstGeom>
          <a:solidFill>
            <a:srgbClr val="3630B2"/>
          </a:solidFill>
          <a:ln>
            <a:noFill/>
          </a:ln>
          <a:effectLst>
            <a:outerShdw blurRad="50800" dist="889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endParaRPr sz="22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2"/>
          <p:cNvSpPr txBox="1">
            <a:spLocks noGrp="1"/>
          </p:cNvSpPr>
          <p:nvPr>
            <p:ph type="title"/>
          </p:nvPr>
        </p:nvSpPr>
        <p:spPr>
          <a:xfrm>
            <a:off x="474620" y="2382436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alibri"/>
              <a:buNone/>
              <a:defRPr sz="2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18" name="Google Shape;18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57752" y="836712"/>
            <a:ext cx="8064896" cy="1269828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2"/>
          <p:cNvSpPr txBox="1"/>
          <p:nvPr/>
        </p:nvSpPr>
        <p:spPr>
          <a:xfrm>
            <a:off x="1460281" y="5589240"/>
            <a:ext cx="6315960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Departamento de Señales, Sistemas y Radiocomunicaciones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E.T.S. Ingenieros de Telecomunicación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Universidad Politécnica de Madrid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908720"/>
          </a:xfrm>
          <a:prstGeom prst="rect">
            <a:avLst/>
          </a:prstGeom>
          <a:solidFill>
            <a:srgbClr val="3630B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  <a:defRPr sz="2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dt" idx="10"/>
          </p:nvPr>
        </p:nvSpPr>
        <p:spPr>
          <a:xfrm>
            <a:off x="566257" y="64482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ftr" idx="11"/>
          </p:nvPr>
        </p:nvSpPr>
        <p:spPr>
          <a:xfrm>
            <a:off x="3124200" y="6431851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25" name="Google Shape;25;p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389" y="6477594"/>
            <a:ext cx="906476" cy="375908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26;p3"/>
          <p:cNvSpPr txBox="1"/>
          <p:nvPr/>
        </p:nvSpPr>
        <p:spPr>
          <a:xfrm>
            <a:off x="8145874" y="6553201"/>
            <a:ext cx="909226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r>
              <a:rPr lang="en-US" sz="1200" b="0" i="0" u="none" strike="noStrike" cap="non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 /9</a:t>
            </a:r>
            <a:endParaRPr sz="1200" b="0" i="0" u="none" strike="noStrike" cap="non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ólo el título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908720"/>
          </a:xfrm>
          <a:prstGeom prst="rect">
            <a:avLst/>
          </a:prstGeom>
          <a:solidFill>
            <a:srgbClr val="3630B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  <a:defRPr sz="2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7" name="Google Shape;57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7" name="Google Shape;67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1" name="Google Shape;71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body" idx="1"/>
          </p:nvPr>
        </p:nvSpPr>
        <p:spPr>
          <a:xfrm rot="5400000">
            <a:off x="2309018" y="-251619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7" name="Google Shape;77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>
            <a:spLocks noGrp="1"/>
          </p:cNvSpPr>
          <p:nvPr>
            <p:ph type="title"/>
          </p:nvPr>
        </p:nvSpPr>
        <p:spPr>
          <a:xfrm rot="5400000">
            <a:off x="4732337" y="2171700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1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3" name="Google Shape;83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e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3"/>
          <p:cNvSpPr txBox="1">
            <a:spLocks noGrp="1"/>
          </p:cNvSpPr>
          <p:nvPr>
            <p:ph type="title"/>
          </p:nvPr>
        </p:nvSpPr>
        <p:spPr>
          <a:xfrm>
            <a:off x="488268" y="240177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None/>
            </a:pPr>
            <a:r>
              <a:rPr lang="en-US" sz="3200" b="1" dirty="0"/>
              <a:t>DLAS Project</a:t>
            </a:r>
            <a:endParaRPr dirty="0"/>
          </a:p>
        </p:txBody>
      </p:sp>
      <p:sp>
        <p:nvSpPr>
          <p:cNvPr id="90" name="Google Shape;90;p13"/>
          <p:cNvSpPr txBox="1"/>
          <p:nvPr/>
        </p:nvSpPr>
        <p:spPr>
          <a:xfrm>
            <a:off x="1035607" y="4197010"/>
            <a:ext cx="7072785" cy="1569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Title</a:t>
            </a:r>
            <a:r>
              <a:rPr lang="en-US" sz="2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-US" sz="2400" b="1" dirty="0"/>
              <a:t>Noise Event Detection in Meeting Rooms</a:t>
            </a:r>
            <a:endParaRPr sz="2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s-ES" sz="2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	</a:t>
            </a:r>
            <a:r>
              <a:rPr lang="en-US" sz="16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Agustín</a:t>
            </a:r>
            <a:r>
              <a:rPr lang="en-US" sz="16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M. </a:t>
            </a:r>
            <a:r>
              <a:rPr lang="en-US" sz="1600" dirty="0"/>
              <a:t>d</a:t>
            </a:r>
            <a:r>
              <a:rPr lang="en-US" sz="16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 </a:t>
            </a:r>
            <a:r>
              <a:rPr lang="en-US" sz="1600" dirty="0"/>
              <a:t>l</a:t>
            </a:r>
            <a:r>
              <a:rPr lang="en-US" sz="16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os </a:t>
            </a:r>
            <a:r>
              <a:rPr lang="en-US" sz="16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Riscos</a:t>
            </a:r>
            <a:r>
              <a:rPr lang="en-US" sz="16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Mayorga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3C876B6-7219-A647-BD7B-4DDB6E2F8C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101825"/>
            <a:ext cx="8229600" cy="2769919"/>
          </a:xfrm>
        </p:spPr>
        <p:txBody>
          <a:bodyPr/>
          <a:lstStyle/>
          <a:p>
            <a:pPr indent="-381000">
              <a:buSzPts val="2400"/>
            </a:pPr>
            <a:r>
              <a:rPr lang="en-US" b="1" dirty="0"/>
              <a:t>Objective:</a:t>
            </a:r>
            <a:r>
              <a:rPr lang="en-US" dirty="0"/>
              <a:t> Develop a system for detecting different types of noise in meeting rooms.</a:t>
            </a:r>
          </a:p>
          <a:p>
            <a:pPr indent="-381000">
              <a:buSzPts val="2400"/>
            </a:pPr>
            <a:r>
              <a:rPr lang="en-US" b="1" dirty="0"/>
              <a:t>Dataset: </a:t>
            </a:r>
            <a:r>
              <a:rPr lang="en-US" dirty="0" err="1"/>
              <a:t>UrbanSound</a:t>
            </a:r>
            <a:r>
              <a:rPr lang="en-US" dirty="0"/>
              <a:t>,  </a:t>
            </a:r>
            <a:r>
              <a:rPr lang="en-US" dirty="0" err="1"/>
              <a:t>AudioSet</a:t>
            </a:r>
            <a:r>
              <a:rPr lang="en-US" dirty="0"/>
              <a:t> and </a:t>
            </a:r>
            <a:r>
              <a:rPr lang="en-US" dirty="0" err="1"/>
              <a:t>VoxCeleb</a:t>
            </a:r>
            <a:endParaRPr lang="en-US" b="1" dirty="0"/>
          </a:p>
          <a:p>
            <a:pPr indent="-381000">
              <a:buSzPts val="2400"/>
            </a:pPr>
            <a:r>
              <a:rPr lang="en-US" b="1" dirty="0"/>
              <a:t>Analysis: </a:t>
            </a:r>
            <a:r>
              <a:rPr lang="en-US" dirty="0"/>
              <a:t>STFT and MFCC </a:t>
            </a:r>
            <a:r>
              <a:rPr lang="en-US" dirty="0" err="1"/>
              <a:t>spectograms</a:t>
            </a:r>
            <a:endParaRPr lang="en-US" b="1" dirty="0"/>
          </a:p>
          <a:p>
            <a:pPr indent="-381000">
              <a:buSzPts val="2400"/>
            </a:pPr>
            <a:r>
              <a:rPr lang="en-US" b="1" dirty="0"/>
              <a:t>Models: </a:t>
            </a:r>
            <a:r>
              <a:rPr lang="en-US" dirty="0"/>
              <a:t>Deep Neural Networks. MLP and CRNN </a:t>
            </a:r>
          </a:p>
        </p:txBody>
      </p:sp>
      <p:sp>
        <p:nvSpPr>
          <p:cNvPr id="9" name="Título 8">
            <a:extLst>
              <a:ext uri="{FF2B5EF4-FFF2-40B4-BE49-F238E27FC236}">
                <a16:creationId xmlns:a16="http://schemas.microsoft.com/office/drawing/2014/main" id="{9561D06C-C25E-CC42-B584-144DBA0505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  </a:t>
            </a:r>
            <a:r>
              <a:rPr lang="en-US" sz="3200" b="1" dirty="0"/>
              <a:t>Introduction</a:t>
            </a:r>
            <a:endParaRPr lang="en-US" sz="3200" dirty="0"/>
          </a:p>
        </p:txBody>
      </p:sp>
      <p:pic>
        <p:nvPicPr>
          <p:cNvPr id="5" name="Imagen 4" descr="Imagen que contiene firmar, foto, hombre, mujer&#10;&#10;Descripción generada automáticamente">
            <a:extLst>
              <a:ext uri="{FF2B5EF4-FFF2-40B4-BE49-F238E27FC236}">
                <a16:creationId xmlns:a16="http://schemas.microsoft.com/office/drawing/2014/main" id="{6458189C-C33D-1147-971F-DF3F5A20FE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4761" y="5571414"/>
            <a:ext cx="1481738" cy="596399"/>
          </a:xfrm>
          <a:prstGeom prst="rect">
            <a:avLst/>
          </a:prstGeom>
        </p:spPr>
      </p:pic>
      <p:pic>
        <p:nvPicPr>
          <p:cNvPr id="7" name="Imagen 6" descr="Imagen que contiene dibujo, firmar&#10;&#10;Descripción generada automáticamente">
            <a:extLst>
              <a:ext uri="{FF2B5EF4-FFF2-40B4-BE49-F238E27FC236}">
                <a16:creationId xmlns:a16="http://schemas.microsoft.com/office/drawing/2014/main" id="{E727D75F-8FC4-CD43-8616-2478E73801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1068" y="4835257"/>
            <a:ext cx="2025271" cy="462919"/>
          </a:xfrm>
          <a:prstGeom prst="rect">
            <a:avLst/>
          </a:prstGeom>
        </p:spPr>
      </p:pic>
      <p:pic>
        <p:nvPicPr>
          <p:cNvPr id="11" name="Imagen 10" descr="Imagen que contiene señal&#10;&#10;Descripción generada automáticamente">
            <a:extLst>
              <a:ext uri="{FF2B5EF4-FFF2-40B4-BE49-F238E27FC236}">
                <a16:creationId xmlns:a16="http://schemas.microsoft.com/office/drawing/2014/main" id="{0291CF19-91D3-7842-96A7-6C1C0ABA10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2266" y="4198702"/>
            <a:ext cx="1915140" cy="398987"/>
          </a:xfrm>
          <a:prstGeom prst="rect">
            <a:avLst/>
          </a:prstGeom>
        </p:spPr>
      </p:pic>
      <p:sp>
        <p:nvSpPr>
          <p:cNvPr id="13" name="Marco 12">
            <a:extLst>
              <a:ext uri="{FF2B5EF4-FFF2-40B4-BE49-F238E27FC236}">
                <a16:creationId xmlns:a16="http://schemas.microsoft.com/office/drawing/2014/main" id="{2BC802B8-ECB8-A548-BB83-512DFE33E451}"/>
              </a:ext>
            </a:extLst>
          </p:cNvPr>
          <p:cNvSpPr/>
          <p:nvPr/>
        </p:nvSpPr>
        <p:spPr>
          <a:xfrm>
            <a:off x="877329" y="4005597"/>
            <a:ext cx="2471351" cy="2318991"/>
          </a:xfrm>
          <a:prstGeom prst="frame">
            <a:avLst>
              <a:gd name="adj1" fmla="val 113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pic>
        <p:nvPicPr>
          <p:cNvPr id="17" name="Imagen 16" descr="Imagen que contiene dibujo&#10;&#10;Descripción generada automáticamente">
            <a:extLst>
              <a:ext uri="{FF2B5EF4-FFF2-40B4-BE49-F238E27FC236}">
                <a16:creationId xmlns:a16="http://schemas.microsoft.com/office/drawing/2014/main" id="{9D4FD95B-67D0-C642-862A-95404DB751A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38368" y="4149274"/>
            <a:ext cx="3580871" cy="2097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18351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B4BF434-7D36-AD4D-89AE-F031900D30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z="3200" b="1" dirty="0"/>
              <a:t>  Deep </a:t>
            </a:r>
            <a:r>
              <a:rPr lang="es-ES" sz="3200" b="1" dirty="0" err="1"/>
              <a:t>Learning</a:t>
            </a:r>
            <a:r>
              <a:rPr lang="es-ES" sz="3200" b="1" dirty="0"/>
              <a:t> </a:t>
            </a:r>
            <a:r>
              <a:rPr lang="es-ES" sz="3200" b="1" dirty="0" err="1"/>
              <a:t>for</a:t>
            </a:r>
            <a:r>
              <a:rPr lang="es-ES" sz="3200" b="1" dirty="0"/>
              <a:t> </a:t>
            </a:r>
            <a:r>
              <a:rPr lang="es-ES" sz="3200" b="1" dirty="0" err="1"/>
              <a:t>Acoustic</a:t>
            </a:r>
            <a:r>
              <a:rPr lang="es-ES" sz="3200" b="1" dirty="0"/>
              <a:t> </a:t>
            </a:r>
            <a:r>
              <a:rPr lang="es-ES" sz="3200" b="1" dirty="0" err="1"/>
              <a:t>Signal</a:t>
            </a:r>
            <a:r>
              <a:rPr lang="es-ES" sz="3200" b="1" dirty="0"/>
              <a:t> </a:t>
            </a:r>
            <a:r>
              <a:rPr lang="es-ES" sz="3200" b="1" dirty="0" err="1"/>
              <a:t>Processing</a:t>
            </a:r>
            <a:endParaRPr lang="es-ES" sz="3200" b="1" dirty="0"/>
          </a:p>
        </p:txBody>
      </p:sp>
      <p:pic>
        <p:nvPicPr>
          <p:cNvPr id="5" name="Imagen 4" descr="Captura de pantalla de un celular con letras&#10;&#10;Descripción generada automáticamente">
            <a:extLst>
              <a:ext uri="{FF2B5EF4-FFF2-40B4-BE49-F238E27FC236}">
                <a16:creationId xmlns:a16="http://schemas.microsoft.com/office/drawing/2014/main" id="{8BC92162-9784-4D46-8E97-0B2F269D47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2687" y="1235178"/>
            <a:ext cx="6574475" cy="2491380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BF64899D-F469-BB41-9684-1F36F1182837}"/>
              </a:ext>
            </a:extLst>
          </p:cNvPr>
          <p:cNvSpPr txBox="1"/>
          <p:nvPr/>
        </p:nvSpPr>
        <p:spPr>
          <a:xfrm>
            <a:off x="914400" y="4909320"/>
            <a:ext cx="24466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DL recent advances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610639E1-6E8F-3745-823C-243AD5F35F8F}"/>
              </a:ext>
            </a:extLst>
          </p:cNvPr>
          <p:cNvSpPr txBox="1"/>
          <p:nvPr/>
        </p:nvSpPr>
        <p:spPr>
          <a:xfrm>
            <a:off x="4349924" y="4274580"/>
            <a:ext cx="376846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/>
              <a:t>Sound event detection (SED)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3FF01454-79A0-CF4B-9699-8F2777D4633B}"/>
              </a:ext>
            </a:extLst>
          </p:cNvPr>
          <p:cNvSpPr txBox="1"/>
          <p:nvPr/>
        </p:nvSpPr>
        <p:spPr>
          <a:xfrm>
            <a:off x="4349924" y="5622822"/>
            <a:ext cx="30479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Sound source location</a:t>
            </a:r>
          </a:p>
        </p:txBody>
      </p:sp>
      <p:cxnSp>
        <p:nvCxnSpPr>
          <p:cNvPr id="11" name="Conector recto de flecha 10">
            <a:extLst>
              <a:ext uri="{FF2B5EF4-FFF2-40B4-BE49-F238E27FC236}">
                <a16:creationId xmlns:a16="http://schemas.microsoft.com/office/drawing/2014/main" id="{4A355841-AF8D-E64D-A654-2EEC50EF6905}"/>
              </a:ext>
            </a:extLst>
          </p:cNvPr>
          <p:cNvCxnSpPr>
            <a:cxnSpLocks/>
            <a:stCxn id="6" idx="3"/>
            <a:endCxn id="7" idx="1"/>
          </p:cNvCxnSpPr>
          <p:nvPr/>
        </p:nvCxnSpPr>
        <p:spPr>
          <a:xfrm flipV="1">
            <a:off x="3361038" y="4474635"/>
            <a:ext cx="988886" cy="6347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cto de flecha 12">
            <a:extLst>
              <a:ext uri="{FF2B5EF4-FFF2-40B4-BE49-F238E27FC236}">
                <a16:creationId xmlns:a16="http://schemas.microsoft.com/office/drawing/2014/main" id="{CF6C7F17-2756-AB47-901D-63B407DDCE3D}"/>
              </a:ext>
            </a:extLst>
          </p:cNvPr>
          <p:cNvCxnSpPr>
            <a:cxnSpLocks/>
            <a:stCxn id="6" idx="3"/>
            <a:endCxn id="8" idx="1"/>
          </p:cNvCxnSpPr>
          <p:nvPr/>
        </p:nvCxnSpPr>
        <p:spPr>
          <a:xfrm>
            <a:off x="3361038" y="5109375"/>
            <a:ext cx="988886" cy="7135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20512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0274FE-3E1C-9E45-82FC-4C75B549F9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200" b="1" dirty="0"/>
              <a:t>  CASE STUDY</a:t>
            </a:r>
          </a:p>
        </p:txBody>
      </p:sp>
      <p:pic>
        <p:nvPicPr>
          <p:cNvPr id="4" name="Google Shape;323;p79">
            <a:extLst>
              <a:ext uri="{FF2B5EF4-FFF2-40B4-BE49-F238E27FC236}">
                <a16:creationId xmlns:a16="http://schemas.microsoft.com/office/drawing/2014/main" id="{EC0EA4C8-1073-CB46-90D8-510BAD030113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58497" y="4012824"/>
            <a:ext cx="2051490" cy="2194432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3B78AF67-87C2-6547-91DF-96B09E52EA1F}"/>
              </a:ext>
            </a:extLst>
          </p:cNvPr>
          <p:cNvSpPr txBox="1"/>
          <p:nvPr/>
        </p:nvSpPr>
        <p:spPr>
          <a:xfrm>
            <a:off x="654641" y="1208887"/>
            <a:ext cx="662837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Measure the productivity of work agile teams with: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1762C7AD-934D-8147-BF54-E6825A262E13}"/>
              </a:ext>
            </a:extLst>
          </p:cNvPr>
          <p:cNvSpPr txBox="1"/>
          <p:nvPr/>
        </p:nvSpPr>
        <p:spPr>
          <a:xfrm>
            <a:off x="979288" y="2039884"/>
            <a:ext cx="699557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/>
              <a:t>Actual number of meeting attendees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/>
              <a:t>Actual duration of the meeting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b="1" dirty="0"/>
              <a:t>Metrics on time spent in conversation / typing / silence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/>
              <a:t>Actual noise level</a:t>
            </a:r>
          </a:p>
        </p:txBody>
      </p:sp>
      <p:pic>
        <p:nvPicPr>
          <p:cNvPr id="10" name="Google Shape;397;p86">
            <a:extLst>
              <a:ext uri="{FF2B5EF4-FFF2-40B4-BE49-F238E27FC236}">
                <a16:creationId xmlns:a16="http://schemas.microsoft.com/office/drawing/2014/main" id="{E1CB2BA6-356E-8B4D-A2A2-7ADB8A23BC3C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b="9165"/>
          <a:stretch/>
        </p:blipFill>
        <p:spPr>
          <a:xfrm>
            <a:off x="1152283" y="4261849"/>
            <a:ext cx="2736396" cy="193899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952457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6EE0A6-5022-FF4D-A180-D2210A910F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  </a:t>
            </a:r>
            <a:r>
              <a:rPr lang="en-GB" sz="3200" b="1" dirty="0"/>
              <a:t>Audio Spectrograms</a:t>
            </a:r>
          </a:p>
        </p:txBody>
      </p:sp>
      <p:pic>
        <p:nvPicPr>
          <p:cNvPr id="5" name="Imagen 4" descr="Una captura de pantalla de un celular con letras&#10;&#10;Descripción generada automáticamente">
            <a:extLst>
              <a:ext uri="{FF2B5EF4-FFF2-40B4-BE49-F238E27FC236}">
                <a16:creationId xmlns:a16="http://schemas.microsoft.com/office/drawing/2014/main" id="{42EAE39D-40C6-0D45-BB32-327F861BED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732" y="1834117"/>
            <a:ext cx="7748536" cy="3862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96412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6EE0A6-5022-FF4D-A180-D2210A910F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  </a:t>
            </a:r>
            <a:r>
              <a:rPr lang="en-GB" sz="3200" b="1" dirty="0"/>
              <a:t>Audio Spectrograms</a:t>
            </a:r>
          </a:p>
        </p:txBody>
      </p:sp>
      <p:pic>
        <p:nvPicPr>
          <p:cNvPr id="9" name="Imagen 8" descr="Captura de pantalla de un celular con letras&#10;&#10;Descripción generada automáticamente">
            <a:extLst>
              <a:ext uri="{FF2B5EF4-FFF2-40B4-BE49-F238E27FC236}">
                <a16:creationId xmlns:a16="http://schemas.microsoft.com/office/drawing/2014/main" id="{DADF5BCF-3858-E941-912B-CFDD4FD099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687" y="1825343"/>
            <a:ext cx="7836625" cy="3858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76724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6EE0A6-5022-FF4D-A180-D2210A910F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  </a:t>
            </a:r>
            <a:r>
              <a:rPr lang="en-GB" sz="3200" b="1" dirty="0"/>
              <a:t>Audio Spectrograms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7D9F12BF-D824-CE43-AD9D-87A1200AD4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907" y="1890584"/>
            <a:ext cx="7792186" cy="3824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90474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5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908720"/>
          </a:xfrm>
          <a:prstGeom prst="rect">
            <a:avLst/>
          </a:prstGeom>
          <a:solidFill>
            <a:srgbClr val="3630B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76213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lang="es-ES" sz="3200" b="1" dirty="0" err="1"/>
              <a:t>Multi-Layer</a:t>
            </a:r>
            <a:r>
              <a:rPr lang="es-ES" sz="3200" b="1" dirty="0"/>
              <a:t> </a:t>
            </a:r>
            <a:r>
              <a:rPr lang="es-ES" sz="3200" b="1" dirty="0" err="1"/>
              <a:t>Perceptron</a:t>
            </a:r>
            <a:r>
              <a:rPr lang="es-ES" sz="3200" b="1" dirty="0"/>
              <a:t> (MLP)</a:t>
            </a:r>
            <a:endParaRPr sz="3200" b="1" dirty="0"/>
          </a:p>
        </p:txBody>
      </p:sp>
      <p:sp>
        <p:nvSpPr>
          <p:cNvPr id="5" name="Marcador de texto 2">
            <a:extLst>
              <a:ext uri="{FF2B5EF4-FFF2-40B4-BE49-F238E27FC236}">
                <a16:creationId xmlns:a16="http://schemas.microsoft.com/office/drawing/2014/main" id="{D12505A6-41EB-594F-9DF0-350D7BAF0883}"/>
              </a:ext>
            </a:extLst>
          </p:cNvPr>
          <p:cNvSpPr txBox="1">
            <a:spLocks/>
          </p:cNvSpPr>
          <p:nvPr/>
        </p:nvSpPr>
        <p:spPr>
          <a:xfrm>
            <a:off x="457200" y="1358602"/>
            <a:ext cx="4114800" cy="2385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-381000">
              <a:buSzPts val="2400"/>
            </a:pPr>
            <a:r>
              <a:rPr lang="en-US" dirty="0"/>
              <a:t>40 MFCC input features</a:t>
            </a:r>
          </a:p>
          <a:p>
            <a:pPr indent="-381000">
              <a:buSzPts val="2400"/>
            </a:pPr>
            <a:r>
              <a:rPr lang="en-US" dirty="0"/>
              <a:t>Fully connected layers</a:t>
            </a:r>
          </a:p>
          <a:p>
            <a:pPr indent="-381000">
              <a:buSzPts val="2400"/>
            </a:pPr>
            <a:r>
              <a:rPr lang="en-US" dirty="0"/>
              <a:t>Dropout regularization</a:t>
            </a:r>
          </a:p>
          <a:p>
            <a:pPr indent="-381000">
              <a:buSzPts val="2400"/>
            </a:pPr>
            <a:r>
              <a:rPr lang="en-US" dirty="0"/>
              <a:t>Output layer: </a:t>
            </a:r>
            <a:r>
              <a:rPr lang="en-US" dirty="0" err="1"/>
              <a:t>Softmax</a:t>
            </a:r>
            <a:endParaRPr lang="en-US" dirty="0"/>
          </a:p>
        </p:txBody>
      </p:sp>
      <p:pic>
        <p:nvPicPr>
          <p:cNvPr id="3" name="Imagen 2" descr="Captura de pantalla de un celular&#10;&#10;Descripción generada automáticamente">
            <a:extLst>
              <a:ext uri="{FF2B5EF4-FFF2-40B4-BE49-F238E27FC236}">
                <a16:creationId xmlns:a16="http://schemas.microsoft.com/office/drawing/2014/main" id="{9E3E6BD0-310E-924B-B723-7C34DE777A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0582" y="1028642"/>
            <a:ext cx="2262361" cy="5391398"/>
          </a:xfrm>
          <a:prstGeom prst="rect">
            <a:avLst/>
          </a:prstGeom>
        </p:spPr>
      </p:pic>
      <p:pic>
        <p:nvPicPr>
          <p:cNvPr id="11" name="Imagen 10" descr="Captura de pantalla de un celular&#10;&#10;Descripción generada automáticamente">
            <a:extLst>
              <a:ext uri="{FF2B5EF4-FFF2-40B4-BE49-F238E27FC236}">
                <a16:creationId xmlns:a16="http://schemas.microsoft.com/office/drawing/2014/main" id="{2022C1A8-2440-8F4C-A619-548746D9ED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86" y="3836693"/>
            <a:ext cx="3657427" cy="258334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6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908720"/>
          </a:xfrm>
          <a:prstGeom prst="rect">
            <a:avLst/>
          </a:prstGeom>
          <a:solidFill>
            <a:srgbClr val="3630B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lang="en-US" sz="3200" b="1" dirty="0"/>
              <a:t>  Convolutional Recurrent Neural Network (CRNN)</a:t>
            </a:r>
            <a:endParaRPr dirty="0"/>
          </a:p>
        </p:txBody>
      </p:sp>
      <p:sp>
        <p:nvSpPr>
          <p:cNvPr id="111" name="Google Shape;111;p16"/>
          <p:cNvSpPr txBox="1">
            <a:spLocks noGrp="1"/>
          </p:cNvSpPr>
          <p:nvPr>
            <p:ph type="body" idx="1"/>
          </p:nvPr>
        </p:nvSpPr>
        <p:spPr>
          <a:xfrm>
            <a:off x="282539" y="1166018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2286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endParaRPr dirty="0"/>
          </a:p>
          <a:p>
            <a:pPr marL="914400" lvl="1" indent="-2286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endParaRPr dirty="0"/>
          </a:p>
          <a:p>
            <a:pPr marL="457200" marR="0" lvl="0" indent="-2286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dirty="0"/>
          </a:p>
          <a:p>
            <a:pPr marL="457200" marR="0" lvl="0" indent="-2286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dirty="0"/>
          </a:p>
        </p:txBody>
      </p:sp>
      <p:sp>
        <p:nvSpPr>
          <p:cNvPr id="4" name="Marcador de texto 2">
            <a:extLst>
              <a:ext uri="{FF2B5EF4-FFF2-40B4-BE49-F238E27FC236}">
                <a16:creationId xmlns:a16="http://schemas.microsoft.com/office/drawing/2014/main" id="{43C21793-571B-B841-B62F-5F2D8AE87BA1}"/>
              </a:ext>
            </a:extLst>
          </p:cNvPr>
          <p:cNvSpPr txBox="1">
            <a:spLocks/>
          </p:cNvSpPr>
          <p:nvPr/>
        </p:nvSpPr>
        <p:spPr>
          <a:xfrm>
            <a:off x="457200" y="1358602"/>
            <a:ext cx="4707924" cy="2385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-381000">
              <a:buSzPts val="2400"/>
            </a:pPr>
            <a:r>
              <a:rPr lang="en-US" dirty="0"/>
              <a:t>40 MFCC input features</a:t>
            </a:r>
          </a:p>
          <a:p>
            <a:pPr indent="-381000">
              <a:buSzPts val="2400"/>
            </a:pPr>
            <a:r>
              <a:rPr lang="en-US" dirty="0" err="1"/>
              <a:t>ConvNet</a:t>
            </a:r>
            <a:r>
              <a:rPr lang="en-US" dirty="0"/>
              <a:t> with 64 filters</a:t>
            </a:r>
          </a:p>
          <a:p>
            <a:pPr indent="-381000">
              <a:buSzPts val="2400"/>
            </a:pPr>
            <a:r>
              <a:rPr lang="en-US" dirty="0"/>
              <a:t>Max pooling filtering</a:t>
            </a:r>
          </a:p>
          <a:p>
            <a:pPr indent="-381000">
              <a:buSzPts val="2400"/>
            </a:pPr>
            <a:r>
              <a:rPr lang="en-US" dirty="0" err="1"/>
              <a:t>BiGRU</a:t>
            </a:r>
            <a:r>
              <a:rPr lang="en-US" dirty="0"/>
              <a:t> of 128 cell units</a:t>
            </a:r>
          </a:p>
          <a:p>
            <a:pPr indent="-381000">
              <a:buSzPts val="2400"/>
            </a:pPr>
            <a:r>
              <a:rPr lang="en-US" dirty="0"/>
              <a:t>Dropout and </a:t>
            </a:r>
            <a:r>
              <a:rPr lang="en-US" dirty="0" err="1"/>
              <a:t>Softmax</a:t>
            </a:r>
            <a:r>
              <a:rPr lang="en-US" dirty="0"/>
              <a:t> layers</a:t>
            </a:r>
          </a:p>
        </p:txBody>
      </p:sp>
      <p:pic>
        <p:nvPicPr>
          <p:cNvPr id="3" name="Imagen 2" descr="Captura de pantalla de un celular&#10;&#10;Descripción generada automáticamente">
            <a:extLst>
              <a:ext uri="{FF2B5EF4-FFF2-40B4-BE49-F238E27FC236}">
                <a16:creationId xmlns:a16="http://schemas.microsoft.com/office/drawing/2014/main" id="{20D4AC82-8060-DA45-9D7B-D67DA0C0D0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45100" y="1407297"/>
            <a:ext cx="3441700" cy="4673600"/>
          </a:xfrm>
          <a:prstGeom prst="rect">
            <a:avLst/>
          </a:prstGeom>
        </p:spPr>
      </p:pic>
      <p:pic>
        <p:nvPicPr>
          <p:cNvPr id="10" name="Imagen 9" descr="Captura de pantalla de un celular con letras&#10;&#10;Descripción generada automáticamente">
            <a:extLst>
              <a:ext uri="{FF2B5EF4-FFF2-40B4-BE49-F238E27FC236}">
                <a16:creationId xmlns:a16="http://schemas.microsoft.com/office/drawing/2014/main" id="{F93440CE-4EB5-1448-96D6-8E9CE80F9D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664" y="4047892"/>
            <a:ext cx="3896547" cy="2680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34451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7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908720"/>
          </a:xfrm>
          <a:prstGeom prst="rect">
            <a:avLst/>
          </a:prstGeom>
          <a:solidFill>
            <a:srgbClr val="3630B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lang="en-US" sz="3200" b="1" dirty="0"/>
              <a:t>  Results and conclusions</a:t>
            </a:r>
            <a:endParaRPr lang="en-US" dirty="0"/>
          </a:p>
        </p:txBody>
      </p:sp>
      <p:sp>
        <p:nvSpPr>
          <p:cNvPr id="4" name="Marcador de texto 2">
            <a:extLst>
              <a:ext uri="{FF2B5EF4-FFF2-40B4-BE49-F238E27FC236}">
                <a16:creationId xmlns:a16="http://schemas.microsoft.com/office/drawing/2014/main" id="{0116B1F1-995F-FB49-8E5C-17A0FEE829AC}"/>
              </a:ext>
            </a:extLst>
          </p:cNvPr>
          <p:cNvSpPr txBox="1">
            <a:spLocks/>
          </p:cNvSpPr>
          <p:nvPr/>
        </p:nvSpPr>
        <p:spPr>
          <a:xfrm>
            <a:off x="358344" y="1246910"/>
            <a:ext cx="8241959" cy="21820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-381000">
              <a:buSzPts val="2400"/>
            </a:pPr>
            <a:r>
              <a:rPr lang="en-US" b="1" dirty="0"/>
              <a:t>Conclusions</a:t>
            </a:r>
          </a:p>
          <a:p>
            <a:pPr lvl="1"/>
            <a:r>
              <a:rPr lang="en-US" dirty="0"/>
              <a:t>Learn how to process audio signals in Python</a:t>
            </a:r>
          </a:p>
          <a:p>
            <a:pPr lvl="1"/>
            <a:r>
              <a:rPr lang="en-US" dirty="0"/>
              <a:t>Learn how to extract STFT and MFCC features</a:t>
            </a:r>
          </a:p>
          <a:p>
            <a:pPr lvl="1"/>
            <a:r>
              <a:rPr lang="en-US" dirty="0"/>
              <a:t>Develop a state-of-the-art multiclass SED system</a:t>
            </a:r>
          </a:p>
          <a:p>
            <a:pPr lvl="1"/>
            <a:endParaRPr lang="en-US" dirty="0"/>
          </a:p>
        </p:txBody>
      </p:sp>
      <p:pic>
        <p:nvPicPr>
          <p:cNvPr id="5" name="Imagen 4" descr="Captura de pantalla de un celular&#10;&#10;Descripción generada automáticamente">
            <a:extLst>
              <a:ext uri="{FF2B5EF4-FFF2-40B4-BE49-F238E27FC236}">
                <a16:creationId xmlns:a16="http://schemas.microsoft.com/office/drawing/2014/main" id="{46764B18-141E-9342-AF44-3BFCA46BAC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637" y="3767189"/>
            <a:ext cx="6442827" cy="1713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456597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icina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200</TotalTime>
  <Words>197</Words>
  <Application>Microsoft Macintosh PowerPoint</Application>
  <PresentationFormat>Presentación en pantalla (4:3)</PresentationFormat>
  <Paragraphs>43</Paragraphs>
  <Slides>10</Slides>
  <Notes>5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3" baseType="lpstr">
      <vt:lpstr>Arial</vt:lpstr>
      <vt:lpstr>Calibri</vt:lpstr>
      <vt:lpstr>Tema de Office</vt:lpstr>
      <vt:lpstr>DLAS Project</vt:lpstr>
      <vt:lpstr>  Introduction</vt:lpstr>
      <vt:lpstr>  Deep Learning for Acoustic Signal Processing</vt:lpstr>
      <vt:lpstr>  CASE STUDY</vt:lpstr>
      <vt:lpstr>  Audio Spectrograms</vt:lpstr>
      <vt:lpstr>  Audio Spectrograms</vt:lpstr>
      <vt:lpstr>  Audio Spectrograms</vt:lpstr>
      <vt:lpstr>Multi-Layer Perceptron (MLP)</vt:lpstr>
      <vt:lpstr>  Convolutional Recurrent Neural Network (CRNN)</vt:lpstr>
      <vt:lpstr>  Results and conclusions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PRDL MLLB Final Project</dc:title>
  <cp:lastModifiedBy>am.delosriscos@alumnos.upm.es</cp:lastModifiedBy>
  <cp:revision>19</cp:revision>
  <dcterms:modified xsi:type="dcterms:W3CDTF">2020-05-24T17:05:32Z</dcterms:modified>
</cp:coreProperties>
</file>